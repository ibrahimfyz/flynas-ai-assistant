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46309-1C31-419F-83FE-01CBC8AEA10C}" v="1" dt="2026-08-19T11:57:19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Raed" userId="ad132f7aea78756a" providerId="LiveId" clId="{89494A1D-5424-475A-9C64-7A28DAADB6DC}"/>
    <pc:docChg chg="undo custSel modSld">
      <pc:chgData name="Ibrahim Raed" userId="ad132f7aea78756a" providerId="LiveId" clId="{89494A1D-5424-475A-9C64-7A28DAADB6DC}" dt="2026-08-19T11:57:19.261" v="451"/>
      <pc:docMkLst>
        <pc:docMk/>
      </pc:docMkLst>
      <pc:sldChg chg="addSp delSp modSp mod modTransition">
        <pc:chgData name="Ibrahim Raed" userId="ad132f7aea78756a" providerId="LiveId" clId="{89494A1D-5424-475A-9C64-7A28DAADB6DC}" dt="2026-08-19T11:57:19.261" v="451"/>
        <pc:sldMkLst>
          <pc:docMk/>
          <pc:sldMk cId="0" sldId="256"/>
        </pc:sldMkLst>
        <pc:spChg chg="mod">
          <ac:chgData name="Ibrahim Raed" userId="ad132f7aea78756a" providerId="LiveId" clId="{89494A1D-5424-475A-9C64-7A28DAADB6DC}" dt="2026-08-18T17:41:42.313" v="3" actId="20577"/>
          <ac:spMkLst>
            <pc:docMk/>
            <pc:sldMk cId="0" sldId="256"/>
            <ac:spMk id="6" creationId="{00000000-0000-0000-0000-000000000000}"/>
          </ac:spMkLst>
        </pc:spChg>
        <pc:picChg chg="del">
          <ac:chgData name="Ibrahim Raed" userId="ad132f7aea78756a" providerId="LiveId" clId="{89494A1D-5424-475A-9C64-7A28DAADB6DC}" dt="2026-08-18T17:41:45.818" v="4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brahim Raed" userId="ad132f7aea78756a" providerId="LiveId" clId="{89494A1D-5424-475A-9C64-7A28DAADB6DC}" dt="2026-08-18T17:41:58.895" v="7" actId="1076"/>
          <ac:picMkLst>
            <pc:docMk/>
            <pc:sldMk cId="0" sldId="256"/>
            <ac:picMk id="18" creationId="{5B15E70A-ADBF-970C-EDBF-49E1744DCC24}"/>
          </ac:picMkLst>
        </pc:picChg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57"/>
        </pc:sldMkLst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58"/>
        </pc:sldMkLst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59"/>
        </pc:sldMkLst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60"/>
        </pc:sldMkLst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61"/>
        </pc:sldMkLst>
      </pc:sldChg>
      <pc:sldChg chg="addSp delSp modSp mod modTransition">
        <pc:chgData name="Ibrahim Raed" userId="ad132f7aea78756a" providerId="LiveId" clId="{89494A1D-5424-475A-9C64-7A28DAADB6DC}" dt="2026-08-19T11:57:19.261" v="451"/>
        <pc:sldMkLst>
          <pc:docMk/>
          <pc:sldMk cId="0" sldId="262"/>
        </pc:sldMkLst>
        <pc:spChg chg="mod">
          <ac:chgData name="Ibrahim Raed" userId="ad132f7aea78756a" providerId="LiveId" clId="{89494A1D-5424-475A-9C64-7A28DAADB6DC}" dt="2026-08-18T17:44:48.462" v="227" actId="10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43.856" v="216" actId="1035"/>
          <ac:spMkLst>
            <pc:docMk/>
            <pc:sldMk cId="0" sldId="262"/>
            <ac:spMk id="3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54.840" v="242" actId="1035"/>
          <ac:spMkLst>
            <pc:docMk/>
            <pc:sldMk cId="0" sldId="262"/>
            <ac:spMk id="4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12.354" v="287" actId="10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12.354" v="287" actId="10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12.354" v="287" actId="10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12.354" v="287" actId="10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30.494" v="182" actId="10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30.494" v="182" actId="10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16.552" v="144" actId="103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30.494" v="182" actId="10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5:03.521" v="266" actId="10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38.068" v="208" actId="10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Ibrahim Raed" userId="ad132f7aea78756a" providerId="LiveId" clId="{89494A1D-5424-475A-9C64-7A28DAADB6DC}" dt="2026-08-18T17:44:38.068" v="208" actId="1036"/>
          <ac:spMkLst>
            <pc:docMk/>
            <pc:sldMk cId="0" sldId="262"/>
            <ac:spMk id="26" creationId="{00000000-0000-0000-0000-000000000000}"/>
          </ac:spMkLst>
        </pc:spChg>
        <pc:spChg chg="add del mod">
          <ac:chgData name="Ibrahim Raed" userId="ad132f7aea78756a" providerId="LiveId" clId="{89494A1D-5424-475A-9C64-7A28DAADB6DC}" dt="2026-08-18T17:44:22.456" v="150" actId="22"/>
          <ac:spMkLst>
            <pc:docMk/>
            <pc:sldMk cId="0" sldId="262"/>
            <ac:spMk id="28" creationId="{DE0ABC22-0DA6-2D5B-E113-D56B036422A4}"/>
          </ac:spMkLst>
        </pc:spChg>
        <pc:spChg chg="add del mod">
          <ac:chgData name="Ibrahim Raed" userId="ad132f7aea78756a" providerId="LiveId" clId="{89494A1D-5424-475A-9C64-7A28DAADB6DC}" dt="2026-08-18T17:44:22.456" v="150" actId="22"/>
          <ac:spMkLst>
            <pc:docMk/>
            <pc:sldMk cId="0" sldId="262"/>
            <ac:spMk id="30" creationId="{23007C06-68D8-B6B3-BA37-258AC89F06B5}"/>
          </ac:spMkLst>
        </pc:spChg>
        <pc:spChg chg="add del mod">
          <ac:chgData name="Ibrahim Raed" userId="ad132f7aea78756a" providerId="LiveId" clId="{89494A1D-5424-475A-9C64-7A28DAADB6DC}" dt="2026-08-18T17:44:22.456" v="150" actId="22"/>
          <ac:spMkLst>
            <pc:docMk/>
            <pc:sldMk cId="0" sldId="262"/>
            <ac:spMk id="32" creationId="{20B2F618-C472-F452-1DDB-F1DCE4D9E4EB}"/>
          </ac:spMkLst>
        </pc:spChg>
        <pc:spChg chg="add mod">
          <ac:chgData name="Ibrahim Raed" userId="ad132f7aea78756a" providerId="LiveId" clId="{89494A1D-5424-475A-9C64-7A28DAADB6DC}" dt="2026-08-18T17:45:29.133" v="388" actId="1076"/>
          <ac:spMkLst>
            <pc:docMk/>
            <pc:sldMk cId="0" sldId="262"/>
            <ac:spMk id="34" creationId="{EFB08C90-07C6-E900-EA52-5229E09881FA}"/>
          </ac:spMkLst>
        </pc:spChg>
        <pc:spChg chg="add mod">
          <ac:chgData name="Ibrahim Raed" userId="ad132f7aea78756a" providerId="LiveId" clId="{89494A1D-5424-475A-9C64-7A28DAADB6DC}" dt="2026-08-18T17:47:47.156" v="447" actId="20577"/>
          <ac:spMkLst>
            <pc:docMk/>
            <pc:sldMk cId="0" sldId="262"/>
            <ac:spMk id="36" creationId="{AB17038D-C7D4-5799-6F48-99B3FF9D3AB8}"/>
          </ac:spMkLst>
        </pc:spChg>
        <pc:spChg chg="add mod">
          <ac:chgData name="Ibrahim Raed" userId="ad132f7aea78756a" providerId="LiveId" clId="{89494A1D-5424-475A-9C64-7A28DAADB6DC}" dt="2026-08-18T17:47:53.757" v="450" actId="20577"/>
          <ac:spMkLst>
            <pc:docMk/>
            <pc:sldMk cId="0" sldId="262"/>
            <ac:spMk id="38" creationId="{75DBC942-6F6C-0DA9-E1CC-FB1ACA54DCBD}"/>
          </ac:spMkLst>
        </pc:spChg>
        <pc:spChg chg="add mod">
          <ac:chgData name="Ibrahim Raed" userId="ad132f7aea78756a" providerId="LiveId" clId="{89494A1D-5424-475A-9C64-7A28DAADB6DC}" dt="2026-08-18T17:46:24.802" v="434" actId="20577"/>
          <ac:spMkLst>
            <pc:docMk/>
            <pc:sldMk cId="0" sldId="262"/>
            <ac:spMk id="40" creationId="{5C711CB8-D56A-B39F-E998-C7C22791B724}"/>
          </ac:spMkLst>
        </pc:spChg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63"/>
        </pc:sldMkLst>
      </pc:sldChg>
      <pc:sldChg chg="modTransition">
        <pc:chgData name="Ibrahim Raed" userId="ad132f7aea78756a" providerId="LiveId" clId="{89494A1D-5424-475A-9C64-7A28DAADB6DC}" dt="2026-08-19T11:57:19.261" v="451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2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_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835" y="0"/>
            <a:ext cx="1214711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70C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72000" y="0"/>
            <a:ext cx="548640" cy="6858000"/>
          </a:xfrm>
          <a:prstGeom prst="rect">
            <a:avLst/>
          </a:prstGeom>
          <a:solidFill>
            <a:srgbClr val="070C1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005840" y="548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9436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PROTOTYPE  ·  MVP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265176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</a:t>
            </a:r>
            <a:endParaRPr lang="en-US" sz="40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Assistant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94360" y="4434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assistant that helps FlyNAS passengers get flight, fare, and baggage answers in Arabic and English.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5806440"/>
            <a:ext cx="1543507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9525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94360" y="580644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302459" y="5806440"/>
            <a:ext cx="980237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9525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302459" y="5806440"/>
            <a:ext cx="98023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RAG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47288" y="5806440"/>
            <a:ext cx="819302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9525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47288" y="5806440"/>
            <a:ext cx="8193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  <p:pic>
        <p:nvPicPr>
          <p:cNvPr id="18" name="Picture 17" descr="طيران ناس&quot; ضمن أكثر 100 علامة تجارية رواجاً في السعودية">
            <a:extLst>
              <a:ext uri="{FF2B5EF4-FFF2-40B4-BE49-F238E27FC236}">
                <a16:creationId xmlns:a16="http://schemas.microsoft.com/office/drawing/2014/main" id="{5B15E70A-ADBF-970C-EDBF-49E1744DC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6" y="869053"/>
            <a:ext cx="1985614" cy="1096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every travel question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 is a conversational layer that sits on top of FlyNAS travel data — built to answer real passenger questions in plain language.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9535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FlyNAS passengers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real questions travelers ask before and during a trip.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0128" y="246888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84448" y="27889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s/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9535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61188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84448" y="425196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replies naturally in both languages.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71616" y="246888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45936" y="27889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95351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61188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airline Q&amp;A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5936" y="425196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fares, baggage, booking, cancellation and policies.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833104" y="2468880"/>
            <a:ext cx="2542032" cy="306324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07424" y="27889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icons/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95351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07424" y="3611880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structured data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07424" y="4251960"/>
            <a:ext cx="1993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language model with real data lookup and knowledge retrieval.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it do?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21305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fligh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2677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834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10128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47872" y="21305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cons/bagg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26771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2834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71616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309360" y="21305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icons/fare_pric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2677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834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Pricing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33104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070848" y="21305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icons/fare_comp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226771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70848" y="28346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Comparison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005072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86384" y="4261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icons/booking_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39826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384" y="49651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Changes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310128" y="4005072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3547872" y="4261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icons/cancell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439826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47872" y="49651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071616" y="4005072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309360" y="4261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/home/claude/icons/faq_r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398264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9360" y="49651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/ RAG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8833104" y="4005072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9070848" y="4261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/home/claude/icons/langu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8008" y="4398264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70848" y="49651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0372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0F2A30"/>
          </a:solidFill>
          <a:ln w="19050">
            <a:solidFill>
              <a:srgbClr val="0EA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24780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061972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63140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icons/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24780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18004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34740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835908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icons/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24780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0772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207508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08676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icons/rou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172" y="24780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3540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Router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780276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981444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0940" y="247802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36308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RAG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8353044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554212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icons/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3708" y="2478024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09076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GPT-5.5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9925812" y="26746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10126980" y="2331720"/>
            <a:ext cx="1371600" cy="1051560"/>
          </a:xfrm>
          <a:prstGeom prst="roundRect">
            <a:avLst>
              <a:gd name="adj" fmla="val 7826"/>
            </a:avLst>
          </a:prstGeom>
          <a:solidFill>
            <a:srgbClr val="0F2A30"/>
          </a:solidFill>
          <a:ln w="19050">
            <a:solidFill>
              <a:srgbClr val="0EA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icons/respon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6476" y="2478024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181844" y="283464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644652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 in Arabic or English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2217420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3790188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5362956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to handle it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6935724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+ knowledge base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8508492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answer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0081260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back to the user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question flows through one clean pipeline — from chat input to a grounded answer.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761488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42616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3273552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785616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666744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297680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178808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4448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02736" y="2761488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13048" y="2642616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02736" y="3273552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13048" y="315468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02736" y="3785616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13048" y="3666744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71616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4224" y="2761488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74536" y="2642616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64224" y="3273552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4536" y="315468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64224" y="3785616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74536" y="3666744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64224" y="4297680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74536" y="4178808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33104" y="18745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07424" y="216712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25712" y="2761488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36024" y="2642616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25712" y="3273552"/>
            <a:ext cx="82296" cy="82296"/>
          </a:xfrm>
          <a:prstGeom prst="ellipse">
            <a:avLst/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36024" y="3154680"/>
            <a:ext cx="1764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RAG, working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122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828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20440" y="1828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2044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SQL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8288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0F2A30"/>
          </a:solidFill>
          <a:ln w="15875">
            <a:solidFill>
              <a:srgbClr val="0EA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cons/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21122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44768" y="1828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· Fares · Baggage · Booking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icons/faq_r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52958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24612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questions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20440" y="3246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20440" y="41422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RAG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486400" y="32461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0F2A30"/>
          </a:solidFill>
          <a:ln w="15875">
            <a:solidFill>
              <a:srgbClr val="0EA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icons/r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5295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44768" y="32461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66344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182029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04672" y="4663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520440" y="4663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0" y="466344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0F2A30"/>
          </a:solidFill>
          <a:ln w="15875">
            <a:solidFill>
              <a:srgbClr val="0EA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icons/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49469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44768" y="46634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732520" y="466344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829800" y="466344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0EA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9902952" y="4663440"/>
            <a:ext cx="1545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7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every question is handled the same way.”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205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37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465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questions to ask the assistant during the demo: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943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10247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102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63943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الرحلات المتاحة من الرياض إلى دبي؟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68615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414919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1491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268615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الرحلات الي تودي على دبي؟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73287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219591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21959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073287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baggage is included in Value?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959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4024263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02426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877959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الفرق بين Light وValue وPlus؟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82631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828935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82893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682631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أقدر ألغي Value وكم الرسوم؟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74552" y="6438751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38751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EFB08C90-07C6-E900-EA52-5229E09881FA}"/>
              </a:ext>
            </a:extLst>
          </p:cNvPr>
          <p:cNvSpPr/>
          <p:nvPr/>
        </p:nvSpPr>
        <p:spPr>
          <a:xfrm>
            <a:off x="548640" y="5521432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AB17038D-C7D4-5799-6F48-99B3FF9D3AB8}"/>
              </a:ext>
            </a:extLst>
          </p:cNvPr>
          <p:cNvSpPr/>
          <p:nvPr/>
        </p:nvSpPr>
        <p:spPr>
          <a:xfrm>
            <a:off x="777240" y="5667736"/>
            <a:ext cx="402336" cy="402336"/>
          </a:xfrm>
          <a:prstGeom prst="ellipse">
            <a:avLst/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75DBC942-6F6C-0DA9-E1CC-FB1ACA54DCBD}"/>
              </a:ext>
            </a:extLst>
          </p:cNvPr>
          <p:cNvSpPr/>
          <p:nvPr/>
        </p:nvSpPr>
        <p:spPr>
          <a:xfrm>
            <a:off x="777240" y="5667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5C711CB8-D56A-B39F-E998-C7C22791B724}"/>
              </a:ext>
            </a:extLst>
          </p:cNvPr>
          <p:cNvSpPr/>
          <p:nvPr/>
        </p:nvSpPr>
        <p:spPr>
          <a:xfrm>
            <a:off x="1371600" y="5521432"/>
            <a:ext cx="9966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فاز بكأس العالم سنة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r>
              <a:rPr lang="ar-SA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؟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&amp; safe responses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2011680"/>
          </a:xfrm>
          <a:prstGeom prst="roundRect">
            <a:avLst>
              <a:gd name="adj" fmla="val 4545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929384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482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information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30632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Does not invent an answer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691640"/>
            <a:ext cx="2542032" cy="2011680"/>
          </a:xfrm>
          <a:prstGeom prst="roundRect">
            <a:avLst>
              <a:gd name="adj" fmla="val 4545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47872" y="1929384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0482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fare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47872" y="30632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Premium is not available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71616" y="1691640"/>
            <a:ext cx="2542032" cy="2011680"/>
          </a:xfrm>
          <a:prstGeom prst="roundRect">
            <a:avLst>
              <a:gd name="adj" fmla="val 4545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929384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0482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question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9360" y="30632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Asks for clarification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33104" y="1691640"/>
            <a:ext cx="2542032" cy="2011680"/>
          </a:xfrm>
          <a:prstGeom prst="roundRect">
            <a:avLst>
              <a:gd name="adj" fmla="val 4545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070848" y="1929384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0482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0848" y="25877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question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70848" y="306324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Stays focused on FlyNAS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82029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6868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68680" y="4736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يوجد Wi-Fi على الطائرة؟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Information is insufficient.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0" y="502920"/>
            <a:ext cx="3108960" cy="411480"/>
          </a:xfrm>
          <a:prstGeom prst="roundRect">
            <a:avLst>
              <a:gd name="adj" fmla="val 20000"/>
            </a:avLst>
          </a:prstGeom>
          <a:solidFill>
            <a:srgbClr val="2A1806"/>
          </a:solidFill>
          <a:ln w="12700">
            <a:solidFill>
              <a:srgbClr val="B47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0" y="502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CURRENT FEATURES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213969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icons/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494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1031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FlyNAS 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274320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sample data to production data sources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8536" y="1920240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07992" y="213969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s/real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2494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21031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07992" y="274320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 and fare lookups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28432" y="1920240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47888" y="213969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icons/au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2494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0" y="2103120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47888" y="2743200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personalized passenger sessions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538728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68096" y="375818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icons/knowle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86791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89888" y="372160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knowledge base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68096" y="4361688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FAQ and policy coverage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88536" y="3538728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07992" y="375818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icons/deplo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86791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9784" y="372160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07992" y="4361688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Hardened, scalable infrastructure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028432" y="3538728"/>
            <a:ext cx="3584448" cy="1417320"/>
          </a:xfrm>
          <a:prstGeom prst="roundRect">
            <a:avLst>
              <a:gd name="adj" fmla="val 6452"/>
            </a:avLst>
          </a:prstGeom>
          <a:solidFill>
            <a:srgbClr val="121A24"/>
          </a:solidFill>
          <a:ln w="12700">
            <a:solidFill>
              <a:srgbClr val="22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247888" y="375818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F2A30"/>
          </a:solidFill>
          <a:ln w="12700">
            <a:solidFill>
              <a:srgbClr val="0E6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/home/claude/icons/analyt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3867912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9680" y="372160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monitoring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247888" y="4361688"/>
            <a:ext cx="3145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insight and quality tracking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FLYNAS AI TRAVEL ASSISTANT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506</Words>
  <Application>Microsoft Office PowerPoint</Application>
  <PresentationFormat>Widescreen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Raed</cp:lastModifiedBy>
  <cp:revision>2</cp:revision>
  <dcterms:created xsi:type="dcterms:W3CDTF">2026-08-18T11:41:12Z</dcterms:created>
  <dcterms:modified xsi:type="dcterms:W3CDTF">2026-08-19T11:57:21Z</dcterms:modified>
</cp:coreProperties>
</file>